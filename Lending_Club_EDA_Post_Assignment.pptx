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325880"/>
            <a:ext cx="10698480" cy="1371600"/>
          </a:xfrm>
          <a:prstGeom prst="rect">
            <a:avLst/>
          </a:prstGeom>
          <a:noFill/>
        </p:spPr>
        <p:txBody>
          <a:bodyPr wrap="none">
            <a:spAutoFit/>
          </a:bodyPr>
          <a:lstStyle/>
          <a:p>
            <a:pPr>
              <a:defRPr sz="4200" b="1">
                <a:solidFill>
                  <a:srgbClr val="FFFFFF"/>
                </a:solidFill>
              </a:defRPr>
            </a:pPr>
            <a:r>
              <a:t>Exploratory Data Analysis</a:t>
            </a:r>
          </a:p>
          <a:p>
            <a:pPr>
              <a:defRPr sz="3000">
                <a:solidFill>
                  <a:srgbClr val="CDDCF5"/>
                </a:solidFill>
              </a:defRPr>
            </a:pPr>
            <a:r>
              <a:t>Lending Club Default Analysis</a:t>
            </a:r>
          </a:p>
        </p:txBody>
      </p:sp>
      <p:sp>
        <p:nvSpPr>
          <p:cNvPr id="4" name="TextBox 3"/>
          <p:cNvSpPr txBox="1"/>
          <p:nvPr/>
        </p:nvSpPr>
        <p:spPr>
          <a:xfrm>
            <a:off x="822960" y="3246120"/>
            <a:ext cx="9875520" cy="914400"/>
          </a:xfrm>
          <a:prstGeom prst="rect">
            <a:avLst/>
          </a:prstGeom>
          <a:noFill/>
        </p:spPr>
        <p:txBody>
          <a:bodyPr wrap="none">
            <a:spAutoFit/>
          </a:bodyPr>
          <a:lstStyle/>
          <a:p>
            <a:pPr>
              <a:defRPr sz="2000">
                <a:solidFill>
                  <a:srgbClr val="FFFFFF"/>
                </a:solidFill>
              </a:defRPr>
            </a:pPr>
            <a:r>
              <a:t>Post Assignment Presentation</a:t>
            </a:r>
          </a:p>
          <a:p>
            <a:pPr>
              <a:defRPr sz="1400">
                <a:solidFill>
                  <a:srgbClr val="B9C3D2"/>
                </a:solidFill>
              </a:defRPr>
            </a:pPr>
            <a:r>
              <a:t>Based on the uploaded EDA notebook</a:t>
            </a:r>
          </a:p>
        </p:txBody>
      </p:sp>
      <p:sp>
        <p:nvSpPr>
          <p:cNvPr id="5" name="Rectangle 4"/>
          <p:cNvSpPr/>
          <p:nvPr/>
        </p:nvSpPr>
        <p:spPr>
          <a:xfrm>
            <a:off x="594360" y="6510528"/>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6547104"/>
            <a:ext cx="10789920" cy="182880"/>
          </a:xfrm>
          <a:prstGeom prst="rect">
            <a:avLst/>
          </a:prstGeom>
          <a:noFill/>
        </p:spPr>
        <p:txBody>
          <a:bodyPr wrap="none">
            <a:spAutoFit/>
          </a:bodyPr>
          <a:lstStyle/>
          <a:p>
            <a:pPr>
              <a:defRPr sz="800">
                <a:solidFill>
                  <a:srgbClr val="646C78"/>
                </a:solidFill>
              </a:defRPr>
            </a:pPr>
            <a:r>
              <a:t>Lending Club EDA • Post Assignment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1. Project Overview</a:t>
            </a:r>
          </a:p>
        </p:txBody>
      </p:sp>
      <p:sp>
        <p:nvSpPr>
          <p:cNvPr id="4" name="TextBox 3"/>
          <p:cNvSpPr txBox="1"/>
          <p:nvPr/>
        </p:nvSpPr>
        <p:spPr>
          <a:xfrm>
            <a:off x="777240" y="1325880"/>
            <a:ext cx="10241280" cy="4389120"/>
          </a:xfrm>
          <a:prstGeom prst="rect">
            <a:avLst/>
          </a:prstGeom>
          <a:noFill/>
        </p:spPr>
        <p:txBody>
          <a:bodyPr wrap="square">
            <a:spAutoFit/>
          </a:bodyPr>
          <a:lstStyle/>
          <a:p>
            <a:pPr>
              <a:spcAft>
                <a:spcPts val="1000"/>
              </a:spcAft>
              <a:defRPr sz="1900">
                <a:solidFill>
                  <a:srgbClr val="282D34"/>
                </a:solidFill>
              </a:defRPr>
            </a:pPr>
            <a:r>
              <a:t>• The analysis is divided into four parts: data understanding, data cleaning, data analysis and recommendations.</a:t>
            </a:r>
          </a:p>
          <a:p>
            <a:pPr>
              <a:spcAft>
                <a:spcPts val="1000"/>
              </a:spcAft>
              <a:defRPr sz="1900">
                <a:solidFill>
                  <a:srgbClr val="282D34"/>
                </a:solidFill>
              </a:defRPr>
            </a:pPr>
            <a:r>
              <a:t>• The main objective is to identify variables that are associated with loan default.</a:t>
            </a:r>
          </a:p>
          <a:p>
            <a:pPr>
              <a:spcAft>
                <a:spcPts val="1000"/>
              </a:spcAft>
              <a:defRPr sz="1900">
                <a:solidFill>
                  <a:srgbClr val="282D34"/>
                </a:solidFill>
              </a:defRPr>
            </a:pPr>
            <a:r>
              <a:t>• Loan status is treated as the target variable.</a:t>
            </a:r>
          </a:p>
          <a:p>
            <a:pPr>
              <a:spcAft>
                <a:spcPts val="1000"/>
              </a:spcAft>
              <a:defRPr sz="1900">
                <a:solidFill>
                  <a:srgbClr val="282D34"/>
                </a:solidFill>
              </a:defRPr>
            </a:pPr>
            <a:r>
              <a:t>• The analysis compares default rates across applicant characteristics and loan characteristics.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2. Dataset Overview</a:t>
            </a:r>
          </a:p>
        </p:txBody>
      </p:sp>
      <p:sp>
        <p:nvSpPr>
          <p:cNvPr id="5" name="Rounded Rectangle 4"/>
          <p:cNvSpPr/>
          <p:nvPr/>
        </p:nvSpPr>
        <p:spPr>
          <a:xfrm>
            <a:off x="777240" y="1417320"/>
            <a:ext cx="2560320" cy="1325880"/>
          </a:xfrm>
          <a:prstGeom prst="roundRect">
            <a:avLst/>
          </a:prstGeom>
          <a:solidFill>
            <a:srgbClr val="F2F6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1581912"/>
            <a:ext cx="2231136" cy="502920"/>
          </a:xfrm>
          <a:prstGeom prst="rect">
            <a:avLst/>
          </a:prstGeom>
          <a:noFill/>
        </p:spPr>
        <p:txBody>
          <a:bodyPr wrap="none">
            <a:spAutoFit/>
          </a:bodyPr>
          <a:lstStyle/>
          <a:p>
            <a:pPr>
              <a:defRPr sz="2500" b="1">
                <a:solidFill>
                  <a:srgbClr val="275DAD"/>
                </a:solidFill>
              </a:defRPr>
            </a:pPr>
            <a:r>
              <a:t>39,717</a:t>
            </a:r>
          </a:p>
        </p:txBody>
      </p:sp>
      <p:sp>
        <p:nvSpPr>
          <p:cNvPr id="7" name="TextBox 6"/>
          <p:cNvSpPr txBox="1"/>
          <p:nvPr/>
        </p:nvSpPr>
        <p:spPr>
          <a:xfrm>
            <a:off x="941832" y="2167128"/>
            <a:ext cx="2231136" cy="411480"/>
          </a:xfrm>
          <a:prstGeom prst="rect">
            <a:avLst/>
          </a:prstGeom>
          <a:noFill/>
        </p:spPr>
        <p:txBody>
          <a:bodyPr wrap="none">
            <a:spAutoFit/>
          </a:bodyPr>
          <a:lstStyle/>
          <a:p>
            <a:pPr>
              <a:defRPr sz="1100">
                <a:solidFill>
                  <a:srgbClr val="646C78"/>
                </a:solidFill>
              </a:defRPr>
            </a:pPr>
            <a:r>
              <a:t>Loan records</a:t>
            </a:r>
          </a:p>
        </p:txBody>
      </p:sp>
      <p:sp>
        <p:nvSpPr>
          <p:cNvPr id="8" name="Rounded Rectangle 7"/>
          <p:cNvSpPr/>
          <p:nvPr/>
        </p:nvSpPr>
        <p:spPr>
          <a:xfrm>
            <a:off x="3611880" y="1417320"/>
            <a:ext cx="2560320" cy="1325880"/>
          </a:xfrm>
          <a:prstGeom prst="roundRect">
            <a:avLst/>
          </a:prstGeom>
          <a:solidFill>
            <a:srgbClr val="F2F6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76472" y="1581912"/>
            <a:ext cx="2231136" cy="502920"/>
          </a:xfrm>
          <a:prstGeom prst="rect">
            <a:avLst/>
          </a:prstGeom>
          <a:noFill/>
        </p:spPr>
        <p:txBody>
          <a:bodyPr wrap="none">
            <a:spAutoFit/>
          </a:bodyPr>
          <a:lstStyle/>
          <a:p>
            <a:pPr>
              <a:defRPr sz="2500" b="1">
                <a:solidFill>
                  <a:srgbClr val="275DAD"/>
                </a:solidFill>
              </a:defRPr>
            </a:pPr>
            <a:r>
              <a:t>111</a:t>
            </a:r>
          </a:p>
        </p:txBody>
      </p:sp>
      <p:sp>
        <p:nvSpPr>
          <p:cNvPr id="10" name="TextBox 9"/>
          <p:cNvSpPr txBox="1"/>
          <p:nvPr/>
        </p:nvSpPr>
        <p:spPr>
          <a:xfrm>
            <a:off x="3776472" y="2167128"/>
            <a:ext cx="2231136" cy="411480"/>
          </a:xfrm>
          <a:prstGeom prst="rect">
            <a:avLst/>
          </a:prstGeom>
          <a:noFill/>
        </p:spPr>
        <p:txBody>
          <a:bodyPr wrap="none">
            <a:spAutoFit/>
          </a:bodyPr>
          <a:lstStyle/>
          <a:p>
            <a:pPr>
              <a:defRPr sz="1100">
                <a:solidFill>
                  <a:srgbClr val="646C78"/>
                </a:solidFill>
              </a:defRPr>
            </a:pPr>
            <a:r>
              <a:t>Original columns</a:t>
            </a:r>
          </a:p>
        </p:txBody>
      </p:sp>
      <p:sp>
        <p:nvSpPr>
          <p:cNvPr id="11" name="Rounded Rectangle 10"/>
          <p:cNvSpPr/>
          <p:nvPr/>
        </p:nvSpPr>
        <p:spPr>
          <a:xfrm>
            <a:off x="6446520" y="1417320"/>
            <a:ext cx="4160520" cy="1325880"/>
          </a:xfrm>
          <a:prstGeom prst="roundRect">
            <a:avLst/>
          </a:prstGeom>
          <a:solidFill>
            <a:srgbClr val="F2F6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11112" y="1581912"/>
            <a:ext cx="3831335" cy="502920"/>
          </a:xfrm>
          <a:prstGeom prst="rect">
            <a:avLst/>
          </a:prstGeom>
          <a:noFill/>
        </p:spPr>
        <p:txBody>
          <a:bodyPr wrap="none">
            <a:spAutoFit/>
          </a:bodyPr>
          <a:lstStyle/>
          <a:p>
            <a:pPr>
              <a:defRPr sz="2500" b="1">
                <a:solidFill>
                  <a:srgbClr val="275DAD"/>
                </a:solidFill>
              </a:defRPr>
            </a:pPr>
            <a:r>
              <a:t>55</a:t>
            </a:r>
          </a:p>
        </p:txBody>
      </p:sp>
      <p:sp>
        <p:nvSpPr>
          <p:cNvPr id="13" name="TextBox 12"/>
          <p:cNvSpPr txBox="1"/>
          <p:nvPr/>
        </p:nvSpPr>
        <p:spPr>
          <a:xfrm>
            <a:off x="6611112" y="2167128"/>
            <a:ext cx="3831335" cy="411480"/>
          </a:xfrm>
          <a:prstGeom prst="rect">
            <a:avLst/>
          </a:prstGeom>
          <a:noFill/>
        </p:spPr>
        <p:txBody>
          <a:bodyPr wrap="none">
            <a:spAutoFit/>
          </a:bodyPr>
          <a:lstStyle/>
          <a:p>
            <a:pPr>
              <a:defRPr sz="1100">
                <a:solidFill>
                  <a:srgbClr val="646C78"/>
                </a:solidFill>
              </a:defRPr>
            </a:pPr>
            <a:r>
              <a:t>Columns after &gt;90% missing-value removal</a:t>
            </a:r>
          </a:p>
        </p:txBody>
      </p:sp>
      <p:sp>
        <p:nvSpPr>
          <p:cNvPr id="14" name="TextBox 13"/>
          <p:cNvSpPr txBox="1"/>
          <p:nvPr/>
        </p:nvSpPr>
        <p:spPr>
          <a:xfrm>
            <a:off x="868680" y="3154680"/>
            <a:ext cx="10149840" cy="1456809"/>
          </a:xfrm>
          <a:prstGeom prst="rect">
            <a:avLst/>
          </a:prstGeom>
          <a:noFill/>
        </p:spPr>
        <p:txBody>
          <a:bodyPr wrap="square">
            <a:spAutoFit/>
          </a:bodyPr>
          <a:lstStyle/>
          <a:p>
            <a:pPr>
              <a:spcAft>
                <a:spcPts val="1000"/>
              </a:spcAft>
              <a:defRPr sz="1800">
                <a:solidFill>
                  <a:srgbClr val="282D34"/>
                </a:solidFill>
              </a:defRPr>
            </a:pPr>
            <a:r>
              <a:rPr dirty="0"/>
              <a:t>• Important variables include loan amount, term, interest rate, grade, sub-grade, annual income and loan purpose.</a:t>
            </a:r>
          </a:p>
          <a:p>
            <a:pPr>
              <a:spcAft>
                <a:spcPts val="1000"/>
              </a:spcAft>
              <a:defRPr sz="1800">
                <a:solidFill>
                  <a:srgbClr val="282D34"/>
                </a:solidFill>
              </a:defRPr>
            </a:pPr>
            <a:r>
              <a:rPr dirty="0"/>
              <a:t>• The original dataset contains numeric and categorical variables.</a:t>
            </a:r>
          </a:p>
          <a:p>
            <a:pPr>
              <a:spcAft>
                <a:spcPts val="1000"/>
              </a:spcAft>
              <a:defRPr sz="1800">
                <a:solidFill>
                  <a:srgbClr val="282D34"/>
                </a:solidFill>
              </a:defRPr>
            </a:pPr>
            <a:r>
              <a:rPr dirty="0"/>
              <a:t>• The </a:t>
            </a:r>
            <a:r>
              <a:rPr lang="en-US" dirty="0"/>
              <a:t>project</a:t>
            </a:r>
            <a:r>
              <a:rPr dirty="0"/>
              <a:t> uses </a:t>
            </a:r>
            <a:r>
              <a:rPr dirty="0" err="1"/>
              <a:t>loan</a:t>
            </a:r>
            <a:r>
              <a:rPr lang="en-US" dirty="0" err="1"/>
              <a:t>_</a:t>
            </a:r>
            <a:r>
              <a:rPr dirty="0" err="1"/>
              <a:t>status</a:t>
            </a:r>
            <a:r>
              <a:rPr dirty="0"/>
              <a:t> as the main target for default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3. Data Cleaning &amp; Pre-processing</a:t>
            </a:r>
          </a:p>
        </p:txBody>
      </p:sp>
      <p:sp>
        <p:nvSpPr>
          <p:cNvPr id="4" name="TextBox 3"/>
          <p:cNvSpPr txBox="1"/>
          <p:nvPr/>
        </p:nvSpPr>
        <p:spPr>
          <a:xfrm>
            <a:off x="731520" y="1234440"/>
            <a:ext cx="10789920" cy="4937760"/>
          </a:xfrm>
          <a:prstGeom prst="rect">
            <a:avLst/>
          </a:prstGeom>
          <a:noFill/>
        </p:spPr>
        <p:txBody>
          <a:bodyPr wrap="square">
            <a:spAutoFit/>
          </a:bodyPr>
          <a:lstStyle/>
          <a:p>
            <a:pPr>
              <a:spcAft>
                <a:spcPts val="1000"/>
              </a:spcAft>
              <a:defRPr sz="1600">
                <a:solidFill>
                  <a:srgbClr val="282D34"/>
                </a:solidFill>
              </a:defRPr>
            </a:pPr>
            <a:r>
              <a:t>• Columns with more than 90% missing values were removed, reducing the dataset from 111 to 55 columns.</a:t>
            </a:r>
          </a:p>
          <a:p>
            <a:pPr>
              <a:spcAft>
                <a:spcPts val="1000"/>
              </a:spcAft>
              <a:defRPr sz="1600">
                <a:solidFill>
                  <a:srgbClr val="282D34"/>
                </a:solidFill>
              </a:defRPr>
            </a:pPr>
            <a:r>
              <a:t>• The description field was dropped because it was not used for the analysis.</a:t>
            </a:r>
          </a:p>
          <a:p>
            <a:pPr>
              <a:spcAft>
                <a:spcPts val="1000"/>
              </a:spcAft>
              <a:defRPr sz="1600">
                <a:solidFill>
                  <a:srgbClr val="282D34"/>
                </a:solidFill>
              </a:defRPr>
            </a:pPr>
            <a:r>
              <a:t>• mths_since_last_delinq was dropped because it is generated after loan approval and is not available as an approval-time predictor.</a:t>
            </a:r>
          </a:p>
          <a:p>
            <a:pPr>
              <a:spcAft>
                <a:spcPts val="1000"/>
              </a:spcAft>
              <a:defRPr sz="1600">
                <a:solidFill>
                  <a:srgbClr val="282D34"/>
                </a:solidFill>
              </a:defRPr>
            </a:pPr>
            <a:r>
              <a:t>• Behaviour-related variables were excluded from predictor analysis.</a:t>
            </a:r>
          </a:p>
          <a:p>
            <a:pPr>
              <a:spcAft>
                <a:spcPts val="1000"/>
              </a:spcAft>
              <a:defRPr sz="1600">
                <a:solidFill>
                  <a:srgbClr val="282D34"/>
                </a:solidFill>
              </a:defRPr>
            </a:pPr>
            <a:r>
              <a:t>• Interest rate was converted from text such as '10.65%' into a numeric value.</a:t>
            </a:r>
          </a:p>
          <a:p>
            <a:pPr>
              <a:spcAft>
                <a:spcPts val="1000"/>
              </a:spcAft>
              <a:defRPr sz="1600">
                <a:solidFill>
                  <a:srgbClr val="282D34"/>
                </a:solidFill>
              </a:defRPr>
            </a:pPr>
            <a:r>
              <a:t>• Employment length was converted from text into numeric years.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4. Target Variable: Loan Status</a:t>
            </a:r>
          </a:p>
        </p:txBody>
      </p:sp>
      <p:sp>
        <p:nvSpPr>
          <p:cNvPr id="4" name="Rounded Rectangle 3"/>
          <p:cNvSpPr/>
          <p:nvPr/>
        </p:nvSpPr>
        <p:spPr>
          <a:xfrm>
            <a:off x="822960" y="1371600"/>
            <a:ext cx="2834640" cy="1325880"/>
          </a:xfrm>
          <a:prstGeom prst="roundRect">
            <a:avLst/>
          </a:prstGeom>
          <a:solidFill>
            <a:srgbClr val="F2F6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87552" y="1536192"/>
            <a:ext cx="2505456" cy="502920"/>
          </a:xfrm>
          <a:prstGeom prst="rect">
            <a:avLst/>
          </a:prstGeom>
          <a:noFill/>
        </p:spPr>
        <p:txBody>
          <a:bodyPr wrap="none">
            <a:spAutoFit/>
          </a:bodyPr>
          <a:lstStyle/>
          <a:p>
            <a:pPr>
              <a:defRPr sz="2500" b="1">
                <a:solidFill>
                  <a:srgbClr val="275DAD"/>
                </a:solidFill>
              </a:defRPr>
            </a:pPr>
            <a:r>
              <a:t>32,145</a:t>
            </a:r>
          </a:p>
        </p:txBody>
      </p:sp>
      <p:sp>
        <p:nvSpPr>
          <p:cNvPr id="6" name="TextBox 5"/>
          <p:cNvSpPr txBox="1"/>
          <p:nvPr/>
        </p:nvSpPr>
        <p:spPr>
          <a:xfrm>
            <a:off x="987552" y="2121408"/>
            <a:ext cx="2505456" cy="411480"/>
          </a:xfrm>
          <a:prstGeom prst="rect">
            <a:avLst/>
          </a:prstGeom>
          <a:noFill/>
        </p:spPr>
        <p:txBody>
          <a:bodyPr wrap="none">
            <a:spAutoFit/>
          </a:bodyPr>
          <a:lstStyle/>
          <a:p>
            <a:pPr>
              <a:defRPr sz="1100">
                <a:solidFill>
                  <a:srgbClr val="646C78"/>
                </a:solidFill>
              </a:defRPr>
            </a:pPr>
            <a:r>
              <a:t>Fully Paid</a:t>
            </a:r>
          </a:p>
        </p:txBody>
      </p:sp>
      <p:sp>
        <p:nvSpPr>
          <p:cNvPr id="7" name="Rounded Rectangle 6"/>
          <p:cNvSpPr/>
          <p:nvPr/>
        </p:nvSpPr>
        <p:spPr>
          <a:xfrm>
            <a:off x="3977639" y="1371600"/>
            <a:ext cx="2834640" cy="1325880"/>
          </a:xfrm>
          <a:prstGeom prst="roundRect">
            <a:avLst/>
          </a:prstGeom>
          <a:solidFill>
            <a:srgbClr val="F2F6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42231" y="1536192"/>
            <a:ext cx="2505456" cy="502920"/>
          </a:xfrm>
          <a:prstGeom prst="rect">
            <a:avLst/>
          </a:prstGeom>
          <a:noFill/>
        </p:spPr>
        <p:txBody>
          <a:bodyPr wrap="none">
            <a:spAutoFit/>
          </a:bodyPr>
          <a:lstStyle/>
          <a:p>
            <a:pPr>
              <a:defRPr sz="2500" b="1">
                <a:solidFill>
                  <a:srgbClr val="275DAD"/>
                </a:solidFill>
              </a:defRPr>
            </a:pPr>
            <a:r>
              <a:t>5,399</a:t>
            </a:r>
          </a:p>
        </p:txBody>
      </p:sp>
      <p:sp>
        <p:nvSpPr>
          <p:cNvPr id="9" name="TextBox 8"/>
          <p:cNvSpPr txBox="1"/>
          <p:nvPr/>
        </p:nvSpPr>
        <p:spPr>
          <a:xfrm>
            <a:off x="4142231" y="2121408"/>
            <a:ext cx="2505456" cy="411480"/>
          </a:xfrm>
          <a:prstGeom prst="rect">
            <a:avLst/>
          </a:prstGeom>
          <a:noFill/>
        </p:spPr>
        <p:txBody>
          <a:bodyPr wrap="none">
            <a:spAutoFit/>
          </a:bodyPr>
          <a:lstStyle/>
          <a:p>
            <a:pPr>
              <a:defRPr sz="1100">
                <a:solidFill>
                  <a:srgbClr val="646C78"/>
                </a:solidFill>
              </a:defRPr>
            </a:pPr>
            <a:r>
              <a:t>Charged Off</a:t>
            </a:r>
          </a:p>
        </p:txBody>
      </p:sp>
      <p:sp>
        <p:nvSpPr>
          <p:cNvPr id="10" name="Rounded Rectangle 9"/>
          <p:cNvSpPr/>
          <p:nvPr/>
        </p:nvSpPr>
        <p:spPr>
          <a:xfrm>
            <a:off x="7132320" y="1371600"/>
            <a:ext cx="2834640" cy="1325880"/>
          </a:xfrm>
          <a:prstGeom prst="roundRect">
            <a:avLst/>
          </a:prstGeom>
          <a:solidFill>
            <a:srgbClr val="F2F6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96912" y="1536192"/>
            <a:ext cx="2505456" cy="502920"/>
          </a:xfrm>
          <a:prstGeom prst="rect">
            <a:avLst/>
          </a:prstGeom>
          <a:noFill/>
        </p:spPr>
        <p:txBody>
          <a:bodyPr wrap="none">
            <a:spAutoFit/>
          </a:bodyPr>
          <a:lstStyle/>
          <a:p>
            <a:pPr>
              <a:defRPr sz="2500" b="1">
                <a:solidFill>
                  <a:srgbClr val="275DAD"/>
                </a:solidFill>
              </a:defRPr>
            </a:pPr>
            <a:r>
              <a:t>1,098</a:t>
            </a:r>
          </a:p>
        </p:txBody>
      </p:sp>
      <p:sp>
        <p:nvSpPr>
          <p:cNvPr id="12" name="TextBox 11"/>
          <p:cNvSpPr txBox="1"/>
          <p:nvPr/>
        </p:nvSpPr>
        <p:spPr>
          <a:xfrm>
            <a:off x="7296912" y="2121408"/>
            <a:ext cx="2505456" cy="411480"/>
          </a:xfrm>
          <a:prstGeom prst="rect">
            <a:avLst/>
          </a:prstGeom>
          <a:noFill/>
        </p:spPr>
        <p:txBody>
          <a:bodyPr wrap="none">
            <a:spAutoFit/>
          </a:bodyPr>
          <a:lstStyle/>
          <a:p>
            <a:pPr>
              <a:defRPr sz="1100">
                <a:solidFill>
                  <a:srgbClr val="646C78"/>
                </a:solidFill>
              </a:defRPr>
            </a:pPr>
            <a:r>
              <a:t>Current — removed</a:t>
            </a:r>
          </a:p>
        </p:txBody>
      </p:sp>
      <p:sp>
        <p:nvSpPr>
          <p:cNvPr id="13" name="TextBox 12"/>
          <p:cNvSpPr txBox="1"/>
          <p:nvPr/>
        </p:nvSpPr>
        <p:spPr>
          <a:xfrm>
            <a:off x="868680" y="3154680"/>
            <a:ext cx="10149840" cy="1585049"/>
          </a:xfrm>
          <a:prstGeom prst="rect">
            <a:avLst/>
          </a:prstGeom>
          <a:noFill/>
        </p:spPr>
        <p:txBody>
          <a:bodyPr wrap="square">
            <a:spAutoFit/>
          </a:bodyPr>
          <a:lstStyle/>
          <a:p>
            <a:pPr>
              <a:spcAft>
                <a:spcPts val="1000"/>
              </a:spcAft>
              <a:defRPr sz="1800">
                <a:solidFill>
                  <a:srgbClr val="282D34"/>
                </a:solidFill>
              </a:defRPr>
            </a:pPr>
            <a:r>
              <a:rPr dirty="0"/>
              <a:t>• Current loans were removed because they were neither fully paid nor defaulted.</a:t>
            </a:r>
          </a:p>
          <a:p>
            <a:pPr>
              <a:spcAft>
                <a:spcPts val="1000"/>
              </a:spcAft>
              <a:defRPr sz="1800">
                <a:solidFill>
                  <a:srgbClr val="282D34"/>
                </a:solidFill>
              </a:defRPr>
            </a:pPr>
            <a:r>
              <a:rPr dirty="0"/>
              <a:t>• Fully Paid was coded as 0 (non-default) and Charged Off as 1 (default).</a:t>
            </a:r>
          </a:p>
          <a:p>
            <a:pPr>
              <a:spcAft>
                <a:spcPts val="1000"/>
              </a:spcAft>
              <a:defRPr sz="1800">
                <a:solidFill>
                  <a:srgbClr val="282D34"/>
                </a:solidFill>
              </a:defRPr>
            </a:pPr>
            <a:r>
              <a:rPr dirty="0"/>
              <a:t>• After removing Current loans, the dataset contains 37,544 observations for the default-rate analysis.</a:t>
            </a:r>
          </a:p>
          <a:p>
            <a:pPr>
              <a:spcAft>
                <a:spcPts val="1000"/>
              </a:spcAft>
              <a:defRPr sz="1800">
                <a:solidFill>
                  <a:srgbClr val="282D34"/>
                </a:solidFill>
              </a:defRPr>
            </a:pPr>
            <a:r>
              <a:rPr dirty="0"/>
              <a:t>• Overall default rate = 14.</a:t>
            </a:r>
            <a:r>
              <a:rPr lang="en-US" dirty="0"/>
              <a:t>5</a:t>
            </a:r>
            <a:r>
              <a:rPr dirty="0"/>
              <a:t>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5. Overall Default Rate</a:t>
            </a:r>
          </a:p>
        </p:txBody>
      </p:sp>
      <p:sp>
        <p:nvSpPr>
          <p:cNvPr id="4" name="Rounded Rectangle 3"/>
          <p:cNvSpPr/>
          <p:nvPr/>
        </p:nvSpPr>
        <p:spPr>
          <a:xfrm>
            <a:off x="4389120" y="1280160"/>
            <a:ext cx="3383280" cy="1554480"/>
          </a:xfrm>
          <a:prstGeom prst="roundRect">
            <a:avLst/>
          </a:prstGeom>
          <a:solidFill>
            <a:srgbClr val="F2F6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53712" y="1444751"/>
            <a:ext cx="1151277" cy="477054"/>
          </a:xfrm>
          <a:prstGeom prst="rect">
            <a:avLst/>
          </a:prstGeom>
          <a:noFill/>
        </p:spPr>
        <p:txBody>
          <a:bodyPr wrap="none">
            <a:spAutoFit/>
          </a:bodyPr>
          <a:lstStyle/>
          <a:p>
            <a:pPr>
              <a:defRPr sz="2500" b="1">
                <a:solidFill>
                  <a:srgbClr val="275DAD"/>
                </a:solidFill>
              </a:defRPr>
            </a:pPr>
            <a:r>
              <a:rPr dirty="0"/>
              <a:t>14.</a:t>
            </a:r>
            <a:r>
              <a:rPr lang="en-US" dirty="0"/>
              <a:t>5</a:t>
            </a:r>
            <a:r>
              <a:rPr dirty="0"/>
              <a:t>8%</a:t>
            </a:r>
          </a:p>
        </p:txBody>
      </p:sp>
      <p:sp>
        <p:nvSpPr>
          <p:cNvPr id="6" name="TextBox 5"/>
          <p:cNvSpPr txBox="1"/>
          <p:nvPr/>
        </p:nvSpPr>
        <p:spPr>
          <a:xfrm>
            <a:off x="4553712" y="2029967"/>
            <a:ext cx="3054096" cy="411480"/>
          </a:xfrm>
          <a:prstGeom prst="rect">
            <a:avLst/>
          </a:prstGeom>
          <a:noFill/>
        </p:spPr>
        <p:txBody>
          <a:bodyPr wrap="none">
            <a:spAutoFit/>
          </a:bodyPr>
          <a:lstStyle/>
          <a:p>
            <a:pPr>
              <a:defRPr sz="1100">
                <a:solidFill>
                  <a:srgbClr val="646C78"/>
                </a:solidFill>
              </a:defRPr>
            </a:pPr>
            <a:r>
              <a:t>Overall default rate</a:t>
            </a:r>
          </a:p>
        </p:txBody>
      </p:sp>
      <p:sp>
        <p:nvSpPr>
          <p:cNvPr id="7" name="TextBox 6"/>
          <p:cNvSpPr txBox="1"/>
          <p:nvPr/>
        </p:nvSpPr>
        <p:spPr>
          <a:xfrm>
            <a:off x="1097280" y="3154680"/>
            <a:ext cx="9601200" cy="1810752"/>
          </a:xfrm>
          <a:prstGeom prst="rect">
            <a:avLst/>
          </a:prstGeom>
          <a:noFill/>
        </p:spPr>
        <p:txBody>
          <a:bodyPr wrap="square">
            <a:spAutoFit/>
          </a:bodyPr>
          <a:lstStyle/>
          <a:p>
            <a:pPr>
              <a:spcAft>
                <a:spcPts val="1000"/>
              </a:spcAft>
              <a:defRPr sz="1900">
                <a:solidFill>
                  <a:srgbClr val="282D34"/>
                </a:solidFill>
              </a:defRPr>
            </a:pPr>
            <a:r>
              <a:rPr dirty="0"/>
              <a:t>• The analysis finds that around 1</a:t>
            </a:r>
            <a:r>
              <a:rPr lang="en-US" dirty="0"/>
              <a:t>5</a:t>
            </a:r>
            <a:r>
              <a:rPr dirty="0"/>
              <a:t>% of the analyzed loans were charged off.</a:t>
            </a:r>
          </a:p>
          <a:p>
            <a:pPr>
              <a:spcAft>
                <a:spcPts val="1000"/>
              </a:spcAft>
              <a:defRPr sz="1900">
                <a:solidFill>
                  <a:srgbClr val="282D34"/>
                </a:solidFill>
              </a:defRPr>
            </a:pPr>
            <a:r>
              <a:rPr dirty="0"/>
              <a:t>• This provides the baseline against which the default rates of different borrower and loan categories can be compared.</a:t>
            </a:r>
          </a:p>
          <a:p>
            <a:pPr>
              <a:spcAft>
                <a:spcPts val="1000"/>
              </a:spcAft>
              <a:defRPr sz="1900">
                <a:solidFill>
                  <a:srgbClr val="282D34"/>
                </a:solidFill>
              </a:defRPr>
            </a:pPr>
            <a:r>
              <a:rPr dirty="0"/>
              <a:t>• The remaining analysis focuses on identifying variables where default rates differ meaningfully from this baseline.</a:t>
            </a:r>
          </a:p>
        </p:txBody>
      </p:sp>
      <p:sp>
        <p:nvSpPr>
          <p:cNvPr id="8" name="Rectangle 7"/>
          <p:cNvSpPr/>
          <p:nvPr/>
        </p:nvSpPr>
        <p:spPr>
          <a:xfrm>
            <a:off x="594360" y="6510528"/>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6. Loan Grade is a Strong Risk Indicator</a:t>
            </a:r>
          </a:p>
        </p:txBody>
      </p:sp>
      <p:sp>
        <p:nvSpPr>
          <p:cNvPr id="6" name="TextBox 5"/>
          <p:cNvSpPr txBox="1"/>
          <p:nvPr/>
        </p:nvSpPr>
        <p:spPr>
          <a:xfrm>
            <a:off x="7360920" y="1417320"/>
            <a:ext cx="4069080" cy="4206240"/>
          </a:xfrm>
          <a:prstGeom prst="rect">
            <a:avLst/>
          </a:prstGeom>
          <a:noFill/>
        </p:spPr>
        <p:txBody>
          <a:bodyPr wrap="square">
            <a:spAutoFit/>
          </a:bodyPr>
          <a:lstStyle/>
          <a:p>
            <a:pPr>
              <a:spcAft>
                <a:spcPts val="1000"/>
              </a:spcAft>
              <a:defRPr sz="1700">
                <a:solidFill>
                  <a:srgbClr val="282D34"/>
                </a:solidFill>
              </a:defRPr>
            </a:pPr>
            <a:r>
              <a:t>• Default rate increases as loan grade moves from A toward G.</a:t>
            </a:r>
          </a:p>
          <a:p>
            <a:pPr>
              <a:spcAft>
                <a:spcPts val="1000"/>
              </a:spcAft>
              <a:defRPr sz="1700">
                <a:solidFill>
                  <a:srgbClr val="282D34"/>
                </a:solidFill>
              </a:defRPr>
            </a:pPr>
            <a:r>
              <a:t>• Higher grades represent riskier loans in the Lending Club grading system.</a:t>
            </a:r>
          </a:p>
          <a:p>
            <a:pPr>
              <a:spcAft>
                <a:spcPts val="1000"/>
              </a:spcAft>
              <a:defRPr sz="1700">
                <a:solidFill>
                  <a:srgbClr val="282D34"/>
                </a:solidFill>
              </a:defRPr>
            </a:pPr>
            <a:r>
              <a:t>• This makes grade one of the clearest variables associated with default in the EDA.</a:t>
            </a:r>
          </a:p>
        </p:txBody>
      </p:sp>
      <p:pic>
        <p:nvPicPr>
          <p:cNvPr id="11" name="Picture 10">
            <a:extLst>
              <a:ext uri="{FF2B5EF4-FFF2-40B4-BE49-F238E27FC236}">
                <a16:creationId xmlns:a16="http://schemas.microsoft.com/office/drawing/2014/main" id="{89F5E9BB-C9F0-0745-34B0-567B6F08D472}"/>
              </a:ext>
            </a:extLst>
          </p:cNvPr>
          <p:cNvPicPr>
            <a:picLocks noChangeAspect="1"/>
          </p:cNvPicPr>
          <p:nvPr/>
        </p:nvPicPr>
        <p:blipFill>
          <a:blip r:embed="rId2"/>
          <a:stretch>
            <a:fillRect/>
          </a:stretch>
        </p:blipFill>
        <p:spPr>
          <a:xfrm>
            <a:off x="0" y="1125964"/>
            <a:ext cx="7095744" cy="47889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7. Loan Term and Default</a:t>
            </a:r>
          </a:p>
        </p:txBody>
      </p:sp>
      <p:sp>
        <p:nvSpPr>
          <p:cNvPr id="6" name="TextBox 5"/>
          <p:cNvSpPr txBox="1"/>
          <p:nvPr/>
        </p:nvSpPr>
        <p:spPr>
          <a:xfrm>
            <a:off x="7360920" y="1417320"/>
            <a:ext cx="4069080" cy="4206240"/>
          </a:xfrm>
          <a:prstGeom prst="rect">
            <a:avLst/>
          </a:prstGeom>
          <a:noFill/>
        </p:spPr>
        <p:txBody>
          <a:bodyPr wrap="square">
            <a:spAutoFit/>
          </a:bodyPr>
          <a:lstStyle/>
          <a:p>
            <a:pPr>
              <a:spcAft>
                <a:spcPts val="1000"/>
              </a:spcAft>
              <a:defRPr sz="1700">
                <a:solidFill>
                  <a:srgbClr val="282D34"/>
                </a:solidFill>
              </a:defRPr>
            </a:pPr>
            <a:r>
              <a:t>• The notebook notes that 60-month loans have a higher default rate than 36-month loans.</a:t>
            </a:r>
          </a:p>
          <a:p>
            <a:pPr>
              <a:spcAft>
                <a:spcPts val="1000"/>
              </a:spcAft>
              <a:defRPr sz="1700">
                <a:solidFill>
                  <a:srgbClr val="282D34"/>
                </a:solidFill>
              </a:defRPr>
            </a:pPr>
            <a:r>
              <a:t>• Longer repayment periods can therefore be treated as a risk signal in the analysis.</a:t>
            </a:r>
          </a:p>
          <a:p>
            <a:pPr>
              <a:spcAft>
                <a:spcPts val="1000"/>
              </a:spcAft>
              <a:defRPr sz="1700">
                <a:solidFill>
                  <a:srgbClr val="282D34"/>
                </a:solidFill>
              </a:defRPr>
            </a:pPr>
            <a:r>
              <a:t>• Loan term should be considered together with other variables rather than used alone.</a:t>
            </a:r>
          </a:p>
        </p:txBody>
      </p:sp>
      <p:pic>
        <p:nvPicPr>
          <p:cNvPr id="11" name="Picture 10">
            <a:extLst>
              <a:ext uri="{FF2B5EF4-FFF2-40B4-BE49-F238E27FC236}">
                <a16:creationId xmlns:a16="http://schemas.microsoft.com/office/drawing/2014/main" id="{2DD6B956-40E3-4385-7ACF-28370108AEE7}"/>
              </a:ext>
            </a:extLst>
          </p:cNvPr>
          <p:cNvPicPr>
            <a:picLocks noChangeAspect="1"/>
          </p:cNvPicPr>
          <p:nvPr/>
        </p:nvPicPr>
        <p:blipFill>
          <a:blip r:embed="rId2"/>
          <a:stretch>
            <a:fillRect/>
          </a:stretch>
        </p:blipFill>
        <p:spPr>
          <a:xfrm>
            <a:off x="300609" y="1001162"/>
            <a:ext cx="6923151" cy="553679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8. Purpose of Loan</a:t>
            </a:r>
          </a:p>
        </p:txBody>
      </p:sp>
      <p:sp>
        <p:nvSpPr>
          <p:cNvPr id="6" name="TextBox 5"/>
          <p:cNvSpPr txBox="1"/>
          <p:nvPr/>
        </p:nvSpPr>
        <p:spPr>
          <a:xfrm>
            <a:off x="7452360" y="1371600"/>
            <a:ext cx="3886200" cy="4389120"/>
          </a:xfrm>
          <a:prstGeom prst="rect">
            <a:avLst/>
          </a:prstGeom>
          <a:noFill/>
        </p:spPr>
        <p:txBody>
          <a:bodyPr wrap="square">
            <a:spAutoFit/>
          </a:bodyPr>
          <a:lstStyle/>
          <a:p>
            <a:pPr>
              <a:spcAft>
                <a:spcPts val="1000"/>
              </a:spcAft>
              <a:defRPr sz="1600">
                <a:solidFill>
                  <a:srgbClr val="282D34"/>
                </a:solidFill>
              </a:defRPr>
            </a:pPr>
            <a:r>
              <a:t>• Small-business loans show the highest default rate in the notebook's analysis.</a:t>
            </a:r>
          </a:p>
          <a:p>
            <a:pPr>
              <a:spcAft>
                <a:spcPts val="1000"/>
              </a:spcAft>
              <a:defRPr sz="1600">
                <a:solidFill>
                  <a:srgbClr val="282D34"/>
                </a:solidFill>
              </a:defRPr>
            </a:pPr>
            <a:r>
              <a:t>• Renewable-energy and education loans are also highlighted as relatively higher-default categories.</a:t>
            </a:r>
          </a:p>
          <a:p>
            <a:pPr>
              <a:spcAft>
                <a:spcPts val="1000"/>
              </a:spcAft>
              <a:defRPr sz="1600">
                <a:solidFill>
                  <a:srgbClr val="282D34"/>
                </a:solidFill>
              </a:defRPr>
            </a:pPr>
            <a:r>
              <a:t>• Loan purpose is important because it can be related to borrower profile, interest rate, income and risk.</a:t>
            </a:r>
          </a:p>
        </p:txBody>
      </p:sp>
      <p:pic>
        <p:nvPicPr>
          <p:cNvPr id="11" name="Picture 10">
            <a:extLst>
              <a:ext uri="{FF2B5EF4-FFF2-40B4-BE49-F238E27FC236}">
                <a16:creationId xmlns:a16="http://schemas.microsoft.com/office/drawing/2014/main" id="{1B07A54E-E571-5DBC-7BA4-EEE484032D5D}"/>
              </a:ext>
            </a:extLst>
          </p:cNvPr>
          <p:cNvPicPr>
            <a:picLocks noChangeAspect="1"/>
          </p:cNvPicPr>
          <p:nvPr/>
        </p:nvPicPr>
        <p:blipFill>
          <a:blip r:embed="rId2"/>
          <a:stretch>
            <a:fillRect/>
          </a:stretch>
        </p:blipFill>
        <p:spPr>
          <a:xfrm>
            <a:off x="146304" y="964692"/>
            <a:ext cx="7159752" cy="54178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9. Interest Rate and Default</a:t>
            </a:r>
          </a:p>
        </p:txBody>
      </p:sp>
      <p:sp>
        <p:nvSpPr>
          <p:cNvPr id="6" name="TextBox 5"/>
          <p:cNvSpPr txBox="1"/>
          <p:nvPr/>
        </p:nvSpPr>
        <p:spPr>
          <a:xfrm>
            <a:off x="7406640" y="1371600"/>
            <a:ext cx="3977639" cy="4297680"/>
          </a:xfrm>
          <a:prstGeom prst="rect">
            <a:avLst/>
          </a:prstGeom>
          <a:noFill/>
        </p:spPr>
        <p:txBody>
          <a:bodyPr wrap="square">
            <a:spAutoFit/>
          </a:bodyPr>
          <a:lstStyle/>
          <a:p>
            <a:pPr>
              <a:spcAft>
                <a:spcPts val="1000"/>
              </a:spcAft>
              <a:defRPr sz="1700">
                <a:solidFill>
                  <a:srgbClr val="282D34"/>
                </a:solidFill>
              </a:defRPr>
            </a:pPr>
            <a:r>
              <a:t>• Higher interest-rate categories show higher default rates.</a:t>
            </a:r>
          </a:p>
          <a:p>
            <a:pPr>
              <a:spcAft>
                <a:spcPts val="1000"/>
              </a:spcAft>
              <a:defRPr sz="1700">
                <a:solidFill>
                  <a:srgbClr val="282D34"/>
                </a:solidFill>
              </a:defRPr>
            </a:pPr>
            <a:r>
              <a:t>• Interest rate therefore acts as an important risk-related variable.</a:t>
            </a:r>
          </a:p>
          <a:p>
            <a:pPr>
              <a:spcAft>
                <a:spcPts val="1000"/>
              </a:spcAft>
              <a:defRPr sz="1700">
                <a:solidFill>
                  <a:srgbClr val="282D34"/>
                </a:solidFill>
              </a:defRPr>
            </a:pPr>
            <a:r>
              <a:t>• The result is consistent with the notebook's interpretation that higher-risk loans tend to carry higher rates.</a:t>
            </a:r>
          </a:p>
        </p:txBody>
      </p:sp>
      <p:pic>
        <p:nvPicPr>
          <p:cNvPr id="9" name="Picture 8">
            <a:extLst>
              <a:ext uri="{FF2B5EF4-FFF2-40B4-BE49-F238E27FC236}">
                <a16:creationId xmlns:a16="http://schemas.microsoft.com/office/drawing/2014/main" id="{399AB4D9-1DB9-ACBA-9702-4F44A34C1F6A}"/>
              </a:ext>
            </a:extLst>
          </p:cNvPr>
          <p:cNvPicPr>
            <a:picLocks noChangeAspect="1"/>
          </p:cNvPicPr>
          <p:nvPr/>
        </p:nvPicPr>
        <p:blipFill>
          <a:blip r:embed="rId2"/>
          <a:stretch>
            <a:fillRect/>
          </a:stretch>
        </p:blipFill>
        <p:spPr>
          <a:xfrm>
            <a:off x="265177" y="1115568"/>
            <a:ext cx="7077456" cy="49423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10. Debt-to-Income Ratio (DTI)</a:t>
            </a:r>
          </a:p>
        </p:txBody>
      </p:sp>
      <p:sp>
        <p:nvSpPr>
          <p:cNvPr id="6" name="TextBox 5"/>
          <p:cNvSpPr txBox="1"/>
          <p:nvPr/>
        </p:nvSpPr>
        <p:spPr>
          <a:xfrm>
            <a:off x="7406640" y="1371600"/>
            <a:ext cx="3977639" cy="4297680"/>
          </a:xfrm>
          <a:prstGeom prst="rect">
            <a:avLst/>
          </a:prstGeom>
          <a:noFill/>
        </p:spPr>
        <p:txBody>
          <a:bodyPr wrap="square">
            <a:spAutoFit/>
          </a:bodyPr>
          <a:lstStyle/>
          <a:p>
            <a:pPr>
              <a:spcAft>
                <a:spcPts val="1000"/>
              </a:spcAft>
              <a:defRPr sz="1700">
                <a:solidFill>
                  <a:srgbClr val="282D34"/>
                </a:solidFill>
              </a:defRPr>
            </a:pPr>
            <a:r>
              <a:t>• Higher DTI categories have higher default rates.</a:t>
            </a:r>
          </a:p>
          <a:p>
            <a:pPr>
              <a:spcAft>
                <a:spcPts val="1000"/>
              </a:spcAft>
              <a:defRPr sz="1700">
                <a:solidFill>
                  <a:srgbClr val="282D34"/>
                </a:solidFill>
              </a:defRPr>
            </a:pPr>
            <a:r>
              <a:t>• A higher DTI suggests that a larger share of income is already committed to debt obligations.</a:t>
            </a:r>
          </a:p>
          <a:p>
            <a:pPr>
              <a:spcAft>
                <a:spcPts val="1000"/>
              </a:spcAft>
              <a:defRPr sz="1700">
                <a:solidFill>
                  <a:srgbClr val="282D34"/>
                </a:solidFill>
              </a:defRPr>
            </a:pPr>
            <a:r>
              <a:t>• DTI can therefore help identify borrowers with greater repayment pressure.</a:t>
            </a:r>
          </a:p>
        </p:txBody>
      </p:sp>
      <p:pic>
        <p:nvPicPr>
          <p:cNvPr id="9" name="Picture 8">
            <a:extLst>
              <a:ext uri="{FF2B5EF4-FFF2-40B4-BE49-F238E27FC236}">
                <a16:creationId xmlns:a16="http://schemas.microsoft.com/office/drawing/2014/main" id="{90431089-FBF4-5B9B-9AAC-388ACE6C316C}"/>
              </a:ext>
            </a:extLst>
          </p:cNvPr>
          <p:cNvPicPr>
            <a:picLocks noChangeAspect="1"/>
          </p:cNvPicPr>
          <p:nvPr/>
        </p:nvPicPr>
        <p:blipFill>
          <a:blip r:embed="rId2"/>
          <a:stretch>
            <a:fillRect/>
          </a:stretch>
        </p:blipFill>
        <p:spPr>
          <a:xfrm>
            <a:off x="64009" y="1037844"/>
            <a:ext cx="7342632" cy="51389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28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11. Income and Employment Length</a:t>
            </a:r>
          </a:p>
        </p:txBody>
      </p:sp>
      <p:sp>
        <p:nvSpPr>
          <p:cNvPr id="8" name="TextBox 7"/>
          <p:cNvSpPr txBox="1"/>
          <p:nvPr/>
        </p:nvSpPr>
        <p:spPr>
          <a:xfrm>
            <a:off x="914400" y="5715000"/>
            <a:ext cx="10058400" cy="594360"/>
          </a:xfrm>
          <a:prstGeom prst="rect">
            <a:avLst/>
          </a:prstGeom>
          <a:noFill/>
        </p:spPr>
        <p:txBody>
          <a:bodyPr wrap="square">
            <a:spAutoFit/>
          </a:bodyPr>
          <a:lstStyle/>
          <a:p>
            <a:pPr>
              <a:spcAft>
                <a:spcPts val="1000"/>
              </a:spcAft>
              <a:defRPr sz="1200">
                <a:solidFill>
                  <a:srgbClr val="282D34"/>
                </a:solidFill>
              </a:defRPr>
            </a:pPr>
            <a:r>
              <a:t>• Lower annual-income categories have higher default rates.</a:t>
            </a:r>
          </a:p>
          <a:p>
            <a:pPr>
              <a:spcAft>
                <a:spcPts val="1000"/>
              </a:spcAft>
              <a:defRPr sz="1200">
                <a:solidFill>
                  <a:srgbClr val="282D34"/>
                </a:solidFill>
              </a:defRPr>
            </a:pPr>
            <a:r>
              <a:t>• The notebook reports approximately a 6 percentage-point difference between the highest- and lowest-income groups.</a:t>
            </a:r>
          </a:p>
          <a:p>
            <a:pPr>
              <a:spcAft>
                <a:spcPts val="1000"/>
              </a:spcAft>
              <a:defRPr sz="1200">
                <a:solidFill>
                  <a:srgbClr val="282D34"/>
                </a:solidFill>
              </a:defRPr>
            </a:pPr>
            <a:r>
              <a:t>• Employment length is not identified as a strong predictor of default.</a:t>
            </a:r>
          </a:p>
        </p:txBody>
      </p:sp>
      <p:pic>
        <p:nvPicPr>
          <p:cNvPr id="11" name="Picture 10">
            <a:extLst>
              <a:ext uri="{FF2B5EF4-FFF2-40B4-BE49-F238E27FC236}">
                <a16:creationId xmlns:a16="http://schemas.microsoft.com/office/drawing/2014/main" id="{28397A2C-8D19-5366-3C70-0E4117CA46CB}"/>
              </a:ext>
            </a:extLst>
          </p:cNvPr>
          <p:cNvPicPr>
            <a:picLocks noChangeAspect="1"/>
          </p:cNvPicPr>
          <p:nvPr/>
        </p:nvPicPr>
        <p:blipFill>
          <a:blip r:embed="rId2"/>
          <a:stretch>
            <a:fillRect/>
          </a:stretch>
        </p:blipFill>
        <p:spPr>
          <a:xfrm>
            <a:off x="15240" y="932768"/>
            <a:ext cx="6096000" cy="470899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Picture 11">
            <a:extLst>
              <a:ext uri="{FF2B5EF4-FFF2-40B4-BE49-F238E27FC236}">
                <a16:creationId xmlns:a16="http://schemas.microsoft.com/office/drawing/2014/main" id="{09FA4D72-4A37-60C7-F167-C9F5F6279493}"/>
              </a:ext>
            </a:extLst>
          </p:cNvPr>
          <p:cNvPicPr>
            <a:picLocks noChangeAspect="1"/>
          </p:cNvPicPr>
          <p:nvPr/>
        </p:nvPicPr>
        <p:blipFill>
          <a:blip r:embed="rId3"/>
          <a:stretch>
            <a:fillRect/>
          </a:stretch>
        </p:blipFill>
        <p:spPr>
          <a:xfrm>
            <a:off x="6080760" y="923895"/>
            <a:ext cx="6096000" cy="47267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12. Segmented Analysis: Purpose × Grade</a:t>
            </a:r>
          </a:p>
        </p:txBody>
      </p:sp>
      <p:sp>
        <p:nvSpPr>
          <p:cNvPr id="6" name="TextBox 5"/>
          <p:cNvSpPr txBox="1"/>
          <p:nvPr/>
        </p:nvSpPr>
        <p:spPr>
          <a:xfrm>
            <a:off x="7635240" y="1371600"/>
            <a:ext cx="3657600" cy="4297680"/>
          </a:xfrm>
          <a:prstGeom prst="rect">
            <a:avLst/>
          </a:prstGeom>
          <a:noFill/>
        </p:spPr>
        <p:txBody>
          <a:bodyPr wrap="square">
            <a:spAutoFit/>
          </a:bodyPr>
          <a:lstStyle/>
          <a:p>
            <a:pPr>
              <a:spcAft>
                <a:spcPts val="1000"/>
              </a:spcAft>
              <a:defRPr sz="1600">
                <a:solidFill>
                  <a:srgbClr val="282D34"/>
                </a:solidFill>
              </a:defRPr>
            </a:pPr>
            <a:r>
              <a:t>• Segmenting by loan purpose gives a more detailed view of risk.</a:t>
            </a:r>
          </a:p>
          <a:p>
            <a:pPr>
              <a:spcAft>
                <a:spcPts val="1000"/>
              </a:spcAft>
              <a:defRPr sz="1600">
                <a:solidFill>
                  <a:srgbClr val="282D34"/>
                </a:solidFill>
              </a:defRPr>
            </a:pPr>
            <a:r>
              <a:t>• The notebook notes that debt-consolidation loans generally show high default rates across categories.</a:t>
            </a:r>
          </a:p>
          <a:p>
            <a:pPr>
              <a:spcAft>
                <a:spcPts val="1000"/>
              </a:spcAft>
              <a:defRPr sz="1600">
                <a:solidFill>
                  <a:srgbClr val="282D34"/>
                </a:solidFill>
              </a:defRPr>
            </a:pPr>
            <a:r>
              <a:t>• This suggests that default risk should be evaluated using combinations of variables.</a:t>
            </a:r>
          </a:p>
        </p:txBody>
      </p:sp>
      <p:pic>
        <p:nvPicPr>
          <p:cNvPr id="9" name="Picture 8">
            <a:extLst>
              <a:ext uri="{FF2B5EF4-FFF2-40B4-BE49-F238E27FC236}">
                <a16:creationId xmlns:a16="http://schemas.microsoft.com/office/drawing/2014/main" id="{95491787-BF80-0DC0-9B95-9CD96F68959B}"/>
              </a:ext>
            </a:extLst>
          </p:cNvPr>
          <p:cNvPicPr>
            <a:picLocks noChangeAspect="1"/>
          </p:cNvPicPr>
          <p:nvPr/>
        </p:nvPicPr>
        <p:blipFill>
          <a:blip r:embed="rId2"/>
          <a:stretch>
            <a:fillRect/>
          </a:stretch>
        </p:blipFill>
        <p:spPr>
          <a:xfrm>
            <a:off x="496062" y="916511"/>
            <a:ext cx="6855714" cy="51551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4233C"/>
                </a:solidFill>
              </a:defRPr>
            </a:pPr>
            <a:r>
              <a:t>13. Key EDA Findings</a:t>
            </a:r>
          </a:p>
        </p:txBody>
      </p:sp>
      <p:sp>
        <p:nvSpPr>
          <p:cNvPr id="4" name="TextBox 3"/>
          <p:cNvSpPr txBox="1"/>
          <p:nvPr/>
        </p:nvSpPr>
        <p:spPr>
          <a:xfrm>
            <a:off x="777240" y="1188720"/>
            <a:ext cx="10607040" cy="2959785"/>
          </a:xfrm>
          <a:prstGeom prst="rect">
            <a:avLst/>
          </a:prstGeom>
          <a:noFill/>
        </p:spPr>
        <p:txBody>
          <a:bodyPr wrap="square">
            <a:spAutoFit/>
          </a:bodyPr>
          <a:lstStyle/>
          <a:p>
            <a:pPr>
              <a:spcAft>
                <a:spcPts val="1000"/>
              </a:spcAft>
              <a:defRPr sz="1600">
                <a:solidFill>
                  <a:srgbClr val="282D34"/>
                </a:solidFill>
              </a:defRPr>
            </a:pPr>
            <a:r>
              <a:rPr dirty="0"/>
              <a:t>• Loan grade shows a clear increase in default rate from A toward G.</a:t>
            </a:r>
          </a:p>
          <a:p>
            <a:pPr>
              <a:spcAft>
                <a:spcPts val="1000"/>
              </a:spcAft>
              <a:defRPr sz="1600">
                <a:solidFill>
                  <a:srgbClr val="282D34"/>
                </a:solidFill>
              </a:defRPr>
            </a:pPr>
            <a:r>
              <a:rPr dirty="0"/>
              <a:t>• 60-month loans default more than 36-month loans.</a:t>
            </a:r>
          </a:p>
          <a:p>
            <a:pPr>
              <a:spcAft>
                <a:spcPts val="1000"/>
              </a:spcAft>
              <a:defRPr sz="1600">
                <a:solidFill>
                  <a:srgbClr val="282D34"/>
                </a:solidFill>
              </a:defRPr>
            </a:pPr>
            <a:r>
              <a:rPr dirty="0"/>
              <a:t>• Small-business loans have the highest default rate among the highlighted purposes.</a:t>
            </a:r>
          </a:p>
          <a:p>
            <a:pPr>
              <a:spcAft>
                <a:spcPts val="1000"/>
              </a:spcAft>
              <a:defRPr sz="1600">
                <a:solidFill>
                  <a:srgbClr val="282D34"/>
                </a:solidFill>
              </a:defRPr>
            </a:pPr>
            <a:r>
              <a:rPr dirty="0"/>
              <a:t>• Higher interest rates are associated with higher default rates.</a:t>
            </a:r>
          </a:p>
          <a:p>
            <a:pPr>
              <a:spcAft>
                <a:spcPts val="1000"/>
              </a:spcAft>
              <a:defRPr sz="1600">
                <a:solidFill>
                  <a:srgbClr val="282D34"/>
                </a:solidFill>
              </a:defRPr>
            </a:pPr>
            <a:r>
              <a:rPr dirty="0"/>
              <a:t>• Higher DTI is associated with higher default risk.</a:t>
            </a:r>
          </a:p>
          <a:p>
            <a:pPr>
              <a:spcAft>
                <a:spcPts val="1000"/>
              </a:spcAft>
              <a:defRPr sz="1600">
                <a:solidFill>
                  <a:srgbClr val="282D34"/>
                </a:solidFill>
              </a:defRPr>
            </a:pPr>
            <a:r>
              <a:rPr dirty="0"/>
              <a:t>• Lower annual income is associated with higher default rates.</a:t>
            </a:r>
          </a:p>
          <a:p>
            <a:pPr>
              <a:spcAft>
                <a:spcPts val="1000"/>
              </a:spcAft>
              <a:defRPr sz="1600">
                <a:solidFill>
                  <a:srgbClr val="282D34"/>
                </a:solidFill>
              </a:defRPr>
            </a:pPr>
            <a:r>
              <a:rPr dirty="0"/>
              <a:t>• Home ownership and employment length are comparatively weaker discriminators.</a:t>
            </a:r>
          </a:p>
          <a:p>
            <a:pPr>
              <a:spcAft>
                <a:spcPts val="1000"/>
              </a:spcAft>
              <a:defRPr sz="1600">
                <a:solidFill>
                  <a:srgbClr val="282D34"/>
                </a:solidFill>
              </a:defRPr>
            </a:pPr>
            <a:r>
              <a:rPr dirty="0"/>
              <a:t>• The overall default rate is 14.</a:t>
            </a:r>
            <a:r>
              <a:rPr lang="en-US" dirty="0"/>
              <a:t>5</a:t>
            </a:r>
            <a:r>
              <a:rPr dirty="0"/>
              <a:t>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332720" cy="914400"/>
          </a:xfrm>
          <a:prstGeom prst="rect">
            <a:avLst/>
          </a:prstGeom>
          <a:noFill/>
        </p:spPr>
        <p:txBody>
          <a:bodyPr wrap="none">
            <a:spAutoFit/>
          </a:bodyPr>
          <a:lstStyle/>
          <a:p>
            <a:pPr>
              <a:defRPr sz="3800" b="1">
                <a:solidFill>
                  <a:srgbClr val="FFFFFF"/>
                </a:solidFill>
              </a:defRPr>
            </a:pPr>
            <a:r>
              <a:t>Conclusion</a:t>
            </a:r>
          </a:p>
        </p:txBody>
      </p:sp>
      <p:sp>
        <p:nvSpPr>
          <p:cNvPr id="4" name="TextBox 3"/>
          <p:cNvSpPr txBox="1"/>
          <p:nvPr/>
        </p:nvSpPr>
        <p:spPr>
          <a:xfrm>
            <a:off x="914400" y="2743200"/>
            <a:ext cx="10149840" cy="1828800"/>
          </a:xfrm>
          <a:prstGeom prst="rect">
            <a:avLst/>
          </a:prstGeom>
          <a:noFill/>
        </p:spPr>
        <p:txBody>
          <a:bodyPr wrap="square">
            <a:spAutoFit/>
          </a:bodyPr>
          <a:lstStyle/>
          <a:p>
            <a:pPr>
              <a:defRPr sz="2100">
                <a:solidFill>
                  <a:srgbClr val="DCE6F5"/>
                </a:solidFill>
              </a:defRPr>
            </a:pPr>
            <a:r>
              <a:t>The EDA shows that Lending Club default risk is strongly associated with several loan and applicant characteristics. Grade, interest rate, DTI, income, loan purpose and term provide useful signals for understanding default patterns.</a:t>
            </a:r>
          </a:p>
          <a:p>
            <a:pPr>
              <a:defRPr sz="1800">
                <a:solidFill>
                  <a:srgbClr val="BECDE1"/>
                </a:solidFill>
              </a:defRPr>
            </a:pPr>
            <a:r>
              <a:t>The analysis can be extended into predictive modelling after selecting appropriate application-time variables.</a:t>
            </a:r>
          </a:p>
        </p:txBody>
      </p:sp>
      <p:sp>
        <p:nvSpPr>
          <p:cNvPr id="5" name="Rectangle 4"/>
          <p:cNvSpPr/>
          <p:nvPr/>
        </p:nvSpPr>
        <p:spPr>
          <a:xfrm>
            <a:off x="594360" y="6510528"/>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6547104"/>
            <a:ext cx="10789920" cy="182880"/>
          </a:xfrm>
          <a:prstGeom prst="rect">
            <a:avLst/>
          </a:prstGeom>
          <a:noFill/>
        </p:spPr>
        <p:txBody>
          <a:bodyPr wrap="none">
            <a:spAutoFit/>
          </a:bodyPr>
          <a:lstStyle/>
          <a:p>
            <a:pPr>
              <a:defRPr sz="800">
                <a:solidFill>
                  <a:srgbClr val="646C78"/>
                </a:solidFill>
              </a:defRPr>
            </a:pPr>
            <a:r>
              <a:t>Lending Club EDA • Post Assignment • 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E60D11-B2FB-2ECD-6B70-D8AE3793CC35}"/>
              </a:ext>
            </a:extLst>
          </p:cNvPr>
          <p:cNvSpPr txBox="1"/>
          <p:nvPr/>
        </p:nvSpPr>
        <p:spPr>
          <a:xfrm>
            <a:off x="3124200" y="2705725"/>
            <a:ext cx="5943600" cy="144655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800" dirty="0">
                <a:latin typeface="Brush Script MT" panose="03060802040406070304" pitchFamily="66" charset="0"/>
              </a:rPr>
              <a:t>Thank You</a:t>
            </a:r>
            <a:endParaRPr lang="en-IN" sz="8800" dirty="0">
              <a:latin typeface="Brush Script MT" panose="03060802040406070304" pitchFamily="66" charset="0"/>
            </a:endParaRPr>
          </a:p>
        </p:txBody>
      </p:sp>
    </p:spTree>
    <p:extLst>
      <p:ext uri="{BB962C8B-B14F-4D97-AF65-F5344CB8AC3E}">
        <p14:creationId xmlns:p14="http://schemas.microsoft.com/office/powerpoint/2010/main" val="1761002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894</Words>
  <Application>Microsoft Office PowerPoint</Application>
  <PresentationFormat>Widescreen</PresentationFormat>
  <Paragraphs>86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Brush Script MT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hitesh mavani</cp:lastModifiedBy>
  <cp:revision>2</cp:revision>
  <dcterms:created xsi:type="dcterms:W3CDTF">2013-01-27T09:14:16Z</dcterms:created>
  <dcterms:modified xsi:type="dcterms:W3CDTF">2026-10-06T04:48:18Z</dcterms:modified>
  <cp:category/>
</cp:coreProperties>
</file>